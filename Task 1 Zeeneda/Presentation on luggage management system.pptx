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3" r:id="rId8"/>
    <p:sldId id="262"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2/16/2026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2/16/2026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2/16/2026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2/16/2026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2/16/2026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2/16/2026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2/16/2026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2/16/2026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2/16/2026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2/16/2026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2/16/2026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2/16/2026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jpeg" /><Relationship Id="rId1" Type="http://schemas.openxmlformats.org/officeDocument/2006/relationships/slideLayout" Target="../slideLayouts/slideLayout4.xml" /></Relationships>
</file>

<file path=ppt/slides/_rels/slide5.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C6DA03B-CA75-6987-083A-C393C19ED732}"/>
              </a:ext>
            </a:extLst>
          </p:cNvPr>
          <p:cNvSpPr>
            <a:spLocks noGrp="1"/>
          </p:cNvSpPr>
          <p:nvPr>
            <p:ph type="subTitle" idx="1"/>
          </p:nvPr>
        </p:nvSpPr>
        <p:spPr>
          <a:xfrm>
            <a:off x="1894094" y="3870823"/>
            <a:ext cx="7214187" cy="1508691"/>
          </a:xfrm>
        </p:spPr>
        <p:txBody>
          <a:bodyPr/>
          <a:lstStyle/>
          <a:p>
            <a:r>
              <a:rPr lang="bn-IN" i="1"/>
              <a:t>Presented by – Satarupa Bhowmik , Debarshi Sau , Aryan Gupta</a:t>
            </a:r>
            <a:endParaRPr lang="en-US" i="1"/>
          </a:p>
        </p:txBody>
      </p:sp>
      <p:sp>
        <p:nvSpPr>
          <p:cNvPr id="6" name="TextBox 5">
            <a:extLst>
              <a:ext uri="{FF2B5EF4-FFF2-40B4-BE49-F238E27FC236}">
                <a16:creationId xmlns:a16="http://schemas.microsoft.com/office/drawing/2014/main" id="{6B7FE941-65D5-C396-C248-F12C86EDE5F8}"/>
              </a:ext>
            </a:extLst>
          </p:cNvPr>
          <p:cNvSpPr txBox="1"/>
          <p:nvPr/>
        </p:nvSpPr>
        <p:spPr>
          <a:xfrm flipV="1">
            <a:off x="5181599" y="381000"/>
            <a:ext cx="6307931" cy="1877615"/>
          </a:xfrm>
          <a:prstGeom prst="rect">
            <a:avLst/>
          </a:prstGeom>
          <a:noFill/>
        </p:spPr>
        <p:txBody>
          <a:bodyPr wrap="square" rtlCol="0">
            <a:spAutoFit/>
          </a:bodyPr>
          <a:lstStyle/>
          <a:p>
            <a:pPr algn="l"/>
            <a:endParaRPr lang="en-US"/>
          </a:p>
        </p:txBody>
      </p:sp>
      <p:sp>
        <p:nvSpPr>
          <p:cNvPr id="8" name="Title 7">
            <a:extLst>
              <a:ext uri="{FF2B5EF4-FFF2-40B4-BE49-F238E27FC236}">
                <a16:creationId xmlns:a16="http://schemas.microsoft.com/office/drawing/2014/main" id="{F4B9C754-83F3-59B2-B405-91D7424166E9}"/>
              </a:ext>
            </a:extLst>
          </p:cNvPr>
          <p:cNvSpPr>
            <a:spLocks noGrp="1"/>
          </p:cNvSpPr>
          <p:nvPr>
            <p:ph type="ctrTitle"/>
          </p:nvPr>
        </p:nvSpPr>
        <p:spPr>
          <a:xfrm>
            <a:off x="1166813" y="1932621"/>
            <a:ext cx="8323989" cy="1938202"/>
          </a:xfrm>
        </p:spPr>
        <p:txBody>
          <a:bodyPr/>
          <a:lstStyle/>
          <a:p>
            <a:r>
              <a:rPr lang="bn-IN" sz="4400" b="1"/>
              <a:t>Smart Seat &amp; Luggage Management System</a:t>
            </a:r>
            <a:endParaRPr lang="en-US" sz="4400" b="1"/>
          </a:p>
        </p:txBody>
      </p:sp>
    </p:spTree>
    <p:extLst>
      <p:ext uri="{BB962C8B-B14F-4D97-AF65-F5344CB8AC3E}">
        <p14:creationId xmlns:p14="http://schemas.microsoft.com/office/powerpoint/2010/main" val="3289981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B0AF0-FF32-4921-F56F-1E7A48451FFD}"/>
              </a:ext>
            </a:extLst>
          </p:cNvPr>
          <p:cNvSpPr>
            <a:spLocks noGrp="1"/>
          </p:cNvSpPr>
          <p:nvPr>
            <p:ph type="title"/>
          </p:nvPr>
        </p:nvSpPr>
        <p:spPr/>
        <p:txBody>
          <a:bodyPr/>
          <a:lstStyle/>
          <a:p>
            <a:r>
              <a:rPr lang="bn-IN" sz="3600" b="1"/>
              <a:t>Problem Statement -</a:t>
            </a:r>
            <a:endParaRPr lang="en-US" sz="3600" b="1"/>
          </a:p>
        </p:txBody>
      </p:sp>
      <p:sp>
        <p:nvSpPr>
          <p:cNvPr id="3" name="Content Placeholder 2">
            <a:extLst>
              <a:ext uri="{FF2B5EF4-FFF2-40B4-BE49-F238E27FC236}">
                <a16:creationId xmlns:a16="http://schemas.microsoft.com/office/drawing/2014/main" id="{A8798460-38AC-CF76-E0C3-912D945702A6}"/>
              </a:ext>
            </a:extLst>
          </p:cNvPr>
          <p:cNvSpPr>
            <a:spLocks noGrp="1"/>
          </p:cNvSpPr>
          <p:nvPr>
            <p:ph idx="1"/>
          </p:nvPr>
        </p:nvSpPr>
        <p:spPr>
          <a:xfrm>
            <a:off x="1371600" y="1428750"/>
            <a:ext cx="9601200" cy="4474369"/>
          </a:xfrm>
        </p:spPr>
        <p:txBody>
          <a:bodyPr>
            <a:normAutofit lnSpcReduction="10000"/>
          </a:bodyPr>
          <a:lstStyle/>
          <a:p>
            <a:r>
              <a:rPr lang="bn-IN" i="1"/>
              <a:t>In the current railway system, luggage storage inside coaches is unstructured and unmanaged. Although seats are digitally allocated, no fixed luggage slot is assigned to passengers. This results in random luggage placement, overcrowded racks, and frequent conflicts among passengers. The absence of a monitoring system leads to poor space utilization and reduced travel comfort.</a:t>
            </a:r>
          </a:p>
          <a:p>
            <a:pPr marL="0" indent="0">
              <a:buNone/>
            </a:pPr>
            <a:endParaRPr lang="bn-IN" i="1"/>
          </a:p>
          <a:p>
            <a:pPr marL="0" indent="0">
              <a:buNone/>
            </a:pPr>
            <a:r>
              <a:rPr lang="bn-IN" i="1" u="sng"/>
              <a:t>Key points:-</a:t>
            </a:r>
          </a:p>
          <a:p>
            <a:r>
              <a:rPr lang="bn-IN" i="1"/>
              <a:t>No fixed luggage slot allocation
Random luggage placement
Passenger conflicts
No tracking system
Poor space utilization</a:t>
            </a:r>
            <a:endParaRPr lang="en-US" i="1"/>
          </a:p>
        </p:txBody>
      </p:sp>
    </p:spTree>
    <p:extLst>
      <p:ext uri="{BB962C8B-B14F-4D97-AF65-F5344CB8AC3E}">
        <p14:creationId xmlns:p14="http://schemas.microsoft.com/office/powerpoint/2010/main" val="1651727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7FD53-5A97-EA80-FA88-6C43F577B31C}"/>
              </a:ext>
            </a:extLst>
          </p:cNvPr>
          <p:cNvSpPr>
            <a:spLocks noGrp="1"/>
          </p:cNvSpPr>
          <p:nvPr>
            <p:ph type="title"/>
          </p:nvPr>
        </p:nvSpPr>
        <p:spPr>
          <a:xfrm>
            <a:off x="1371600" y="685800"/>
            <a:ext cx="9601200" cy="1171575"/>
          </a:xfrm>
        </p:spPr>
        <p:txBody>
          <a:bodyPr>
            <a:normAutofit/>
          </a:bodyPr>
          <a:lstStyle/>
          <a:p>
            <a:r>
              <a:rPr lang="bn-IN" sz="3600" b="1"/>
              <a:t>As-Is vs To-Be Process Map</a:t>
            </a:r>
            <a:endParaRPr lang="en-US" sz="3600" b="1"/>
          </a:p>
        </p:txBody>
      </p:sp>
      <p:sp>
        <p:nvSpPr>
          <p:cNvPr id="3" name="Content Placeholder 2">
            <a:extLst>
              <a:ext uri="{FF2B5EF4-FFF2-40B4-BE49-F238E27FC236}">
                <a16:creationId xmlns:a16="http://schemas.microsoft.com/office/drawing/2014/main" id="{5805CC3C-4F61-911E-4275-49446D4182E7}"/>
              </a:ext>
            </a:extLst>
          </p:cNvPr>
          <p:cNvSpPr>
            <a:spLocks noGrp="1"/>
          </p:cNvSpPr>
          <p:nvPr>
            <p:ph idx="1"/>
          </p:nvPr>
        </p:nvSpPr>
        <p:spPr>
          <a:xfrm>
            <a:off x="1371600" y="1702594"/>
            <a:ext cx="9601200" cy="4164806"/>
          </a:xfrm>
        </p:spPr>
        <p:txBody>
          <a:bodyPr/>
          <a:lstStyle/>
          <a:p>
            <a:r>
              <a:rPr lang="bn-IN" i="1"/>
              <a:t>The existing (As-Is) railway process assigns seats but does not manage luggage storage. Passengers place luggage randomly, leading to disputes and inefficient space usage. In the proposed (To-Be) system, every seat is mapped to a specific luggage slot. QR codes are generated for verification, and extra luggage requires pre-booking or fine payment. This ensures transparency, fairness, and better organization.</a:t>
            </a:r>
            <a:endParaRPr lang="en-US" i="1"/>
          </a:p>
        </p:txBody>
      </p:sp>
    </p:spTree>
    <p:extLst>
      <p:ext uri="{BB962C8B-B14F-4D97-AF65-F5344CB8AC3E}">
        <p14:creationId xmlns:p14="http://schemas.microsoft.com/office/powerpoint/2010/main" val="2693700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27C412-C4E0-C0C6-4F64-17981660956F}"/>
              </a:ext>
            </a:extLst>
          </p:cNvPr>
          <p:cNvSpPr>
            <a:spLocks noGrp="1"/>
          </p:cNvSpPr>
          <p:nvPr>
            <p:ph sz="half" idx="1"/>
          </p:nvPr>
        </p:nvSpPr>
        <p:spPr>
          <a:xfrm>
            <a:off x="1371599" y="917972"/>
            <a:ext cx="4447786" cy="5022056"/>
          </a:xfrm>
        </p:spPr>
        <p:txBody>
          <a:bodyPr>
            <a:normAutofit/>
          </a:bodyPr>
          <a:lstStyle/>
          <a:p>
            <a:pPr marL="0" indent="0">
              <a:buNone/>
            </a:pPr>
            <a:r>
              <a:rPr lang="bn-IN" sz="3600" b="1"/>
              <a:t>As-Is process Diagram</a:t>
            </a:r>
          </a:p>
          <a:p>
            <a:pPr marL="0" indent="0">
              <a:buNone/>
            </a:pPr>
            <a:endParaRPr lang="bn-IN" sz="3600" b="1"/>
          </a:p>
          <a:p>
            <a:pPr marL="0" indent="0">
              <a:buNone/>
            </a:pPr>
            <a:endParaRPr lang="en-US" sz="3600" b="1"/>
          </a:p>
        </p:txBody>
      </p:sp>
      <p:pic>
        <p:nvPicPr>
          <p:cNvPr id="5" name="Content Placeholder 4">
            <a:extLst>
              <a:ext uri="{FF2B5EF4-FFF2-40B4-BE49-F238E27FC236}">
                <a16:creationId xmlns:a16="http://schemas.microsoft.com/office/drawing/2014/main" id="{6E0B3438-56B4-225B-CB60-B8608B8FC1AF}"/>
              </a:ext>
            </a:extLst>
          </p:cNvPr>
          <p:cNvPicPr>
            <a:picLocks noGrp="1" noChangeAspect="1"/>
          </p:cNvPicPr>
          <p:nvPr>
            <p:ph sz="half" idx="2"/>
          </p:nvPr>
        </p:nvPicPr>
        <p:blipFill>
          <a:blip r:embed="rId2"/>
          <a:stretch>
            <a:fillRect/>
          </a:stretch>
        </p:blipFill>
        <p:spPr>
          <a:xfrm>
            <a:off x="1726406" y="1548607"/>
            <a:ext cx="4092979" cy="4547393"/>
          </a:xfrm>
          <a:prstGeom prst="rect">
            <a:avLst/>
          </a:prstGeom>
        </p:spPr>
      </p:pic>
      <p:pic>
        <p:nvPicPr>
          <p:cNvPr id="14" name="Picture 13">
            <a:extLst>
              <a:ext uri="{FF2B5EF4-FFF2-40B4-BE49-F238E27FC236}">
                <a16:creationId xmlns:a16="http://schemas.microsoft.com/office/drawing/2014/main" id="{D332496F-2B53-A14E-E78E-0D66E604B6D2}"/>
              </a:ext>
            </a:extLst>
          </p:cNvPr>
          <p:cNvPicPr>
            <a:picLocks noChangeAspect="1"/>
          </p:cNvPicPr>
          <p:nvPr/>
        </p:nvPicPr>
        <p:blipFill>
          <a:blip r:embed="rId3"/>
          <a:stretch>
            <a:fillRect/>
          </a:stretch>
        </p:blipFill>
        <p:spPr>
          <a:xfrm>
            <a:off x="6858001" y="1517417"/>
            <a:ext cx="4912129" cy="4609771"/>
          </a:xfrm>
          <a:prstGeom prst="rect">
            <a:avLst/>
          </a:prstGeom>
        </p:spPr>
      </p:pic>
      <p:sp>
        <p:nvSpPr>
          <p:cNvPr id="16" name="TextBox 15">
            <a:extLst>
              <a:ext uri="{FF2B5EF4-FFF2-40B4-BE49-F238E27FC236}">
                <a16:creationId xmlns:a16="http://schemas.microsoft.com/office/drawing/2014/main" id="{EECE3991-6967-C4B7-C199-BB5F8A640D9A}"/>
              </a:ext>
            </a:extLst>
          </p:cNvPr>
          <p:cNvSpPr txBox="1"/>
          <p:nvPr/>
        </p:nvSpPr>
        <p:spPr>
          <a:xfrm>
            <a:off x="6858001" y="730812"/>
            <a:ext cx="4912129" cy="646331"/>
          </a:xfrm>
          <a:prstGeom prst="rect">
            <a:avLst/>
          </a:prstGeom>
          <a:noFill/>
        </p:spPr>
        <p:txBody>
          <a:bodyPr wrap="square">
            <a:spAutoFit/>
          </a:bodyPr>
          <a:lstStyle/>
          <a:p>
            <a:r>
              <a:rPr lang="bn-IN" sz="3600" b="1"/>
              <a:t>To-be process Diagram</a:t>
            </a:r>
            <a:endParaRPr lang="en-US" sz="3600"/>
          </a:p>
        </p:txBody>
      </p:sp>
    </p:spTree>
    <p:extLst>
      <p:ext uri="{BB962C8B-B14F-4D97-AF65-F5344CB8AC3E}">
        <p14:creationId xmlns:p14="http://schemas.microsoft.com/office/powerpoint/2010/main" val="3040407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C1498-2B82-BC02-94C7-626EDD3E4958}"/>
              </a:ext>
            </a:extLst>
          </p:cNvPr>
          <p:cNvSpPr>
            <a:spLocks noGrp="1"/>
          </p:cNvSpPr>
          <p:nvPr>
            <p:ph type="title"/>
          </p:nvPr>
        </p:nvSpPr>
        <p:spPr>
          <a:xfrm>
            <a:off x="1339454" y="364332"/>
            <a:ext cx="9601200" cy="766763"/>
          </a:xfrm>
        </p:spPr>
        <p:txBody>
          <a:bodyPr>
            <a:normAutofit/>
          </a:bodyPr>
          <a:lstStyle/>
          <a:p>
            <a:r>
              <a:rPr lang="bn-IN" sz="3600" b="1"/>
              <a:t>Flowchart</a:t>
            </a:r>
            <a:endParaRPr lang="en-US" sz="3600" b="1"/>
          </a:p>
        </p:txBody>
      </p:sp>
      <p:pic>
        <p:nvPicPr>
          <p:cNvPr id="5" name="Content Placeholder 4">
            <a:extLst>
              <a:ext uri="{FF2B5EF4-FFF2-40B4-BE49-F238E27FC236}">
                <a16:creationId xmlns:a16="http://schemas.microsoft.com/office/drawing/2014/main" id="{BA05415F-FC98-F6EA-B0D6-500485BDC08B}"/>
              </a:ext>
            </a:extLst>
          </p:cNvPr>
          <p:cNvPicPr>
            <a:picLocks noGrp="1" noChangeAspect="1"/>
          </p:cNvPicPr>
          <p:nvPr>
            <p:ph idx="1"/>
          </p:nvPr>
        </p:nvPicPr>
        <p:blipFill>
          <a:blip r:embed="rId2"/>
          <a:stretch>
            <a:fillRect/>
          </a:stretch>
        </p:blipFill>
        <p:spPr>
          <a:xfrm>
            <a:off x="1383508" y="1023143"/>
            <a:ext cx="5379242" cy="5674123"/>
          </a:xfrm>
          <a:prstGeom prst="rect">
            <a:avLst/>
          </a:prstGeom>
        </p:spPr>
      </p:pic>
    </p:spTree>
    <p:extLst>
      <p:ext uri="{BB962C8B-B14F-4D97-AF65-F5344CB8AC3E}">
        <p14:creationId xmlns:p14="http://schemas.microsoft.com/office/powerpoint/2010/main" val="3719520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6328D-6189-E496-462F-F05094285B90}"/>
              </a:ext>
            </a:extLst>
          </p:cNvPr>
          <p:cNvSpPr>
            <a:spLocks noGrp="1"/>
          </p:cNvSpPr>
          <p:nvPr>
            <p:ph type="title"/>
          </p:nvPr>
        </p:nvSpPr>
        <p:spPr>
          <a:xfrm>
            <a:off x="1371600" y="250032"/>
            <a:ext cx="9601200" cy="740568"/>
          </a:xfrm>
        </p:spPr>
        <p:txBody>
          <a:bodyPr>
            <a:normAutofit/>
          </a:bodyPr>
          <a:lstStyle/>
          <a:p>
            <a:r>
              <a:rPr lang="bn-IN" sz="3600" b="1"/>
              <a:t>UML Diagrams</a:t>
            </a:r>
            <a:endParaRPr lang="en-US" sz="3600" b="1"/>
          </a:p>
        </p:txBody>
      </p:sp>
      <p:sp>
        <p:nvSpPr>
          <p:cNvPr id="3" name="Content Placeholder 2">
            <a:extLst>
              <a:ext uri="{FF2B5EF4-FFF2-40B4-BE49-F238E27FC236}">
                <a16:creationId xmlns:a16="http://schemas.microsoft.com/office/drawing/2014/main" id="{1810121B-E0A9-F15C-936F-ADE181160C2B}"/>
              </a:ext>
            </a:extLst>
          </p:cNvPr>
          <p:cNvSpPr>
            <a:spLocks noGrp="1"/>
          </p:cNvSpPr>
          <p:nvPr>
            <p:ph idx="1"/>
          </p:nvPr>
        </p:nvSpPr>
        <p:spPr>
          <a:xfrm>
            <a:off x="1371600" y="821531"/>
            <a:ext cx="9601200" cy="5045869"/>
          </a:xfrm>
        </p:spPr>
        <p:txBody>
          <a:bodyPr/>
          <a:lstStyle/>
          <a:p>
            <a:r>
              <a:rPr lang="bn-IN"/>
              <a:t>Use Case Diagram –</a:t>
            </a:r>
          </a:p>
          <a:p>
            <a:pPr marL="0" indent="0">
              <a:buNone/>
            </a:pPr>
            <a:endParaRPr lang="en-US"/>
          </a:p>
        </p:txBody>
      </p:sp>
      <p:pic>
        <p:nvPicPr>
          <p:cNvPr id="4" name="Picture 3">
            <a:extLst>
              <a:ext uri="{FF2B5EF4-FFF2-40B4-BE49-F238E27FC236}">
                <a16:creationId xmlns:a16="http://schemas.microsoft.com/office/drawing/2014/main" id="{B4F11201-1E14-A497-C7FB-D762FF9F348E}"/>
              </a:ext>
            </a:extLst>
          </p:cNvPr>
          <p:cNvPicPr>
            <a:picLocks noChangeAspect="1"/>
          </p:cNvPicPr>
          <p:nvPr/>
        </p:nvPicPr>
        <p:blipFill>
          <a:blip r:embed="rId2"/>
          <a:stretch>
            <a:fillRect/>
          </a:stretch>
        </p:blipFill>
        <p:spPr>
          <a:xfrm>
            <a:off x="1666875" y="1266692"/>
            <a:ext cx="8120063" cy="5341276"/>
          </a:xfrm>
          <a:prstGeom prst="rect">
            <a:avLst/>
          </a:prstGeom>
        </p:spPr>
      </p:pic>
    </p:spTree>
    <p:extLst>
      <p:ext uri="{BB962C8B-B14F-4D97-AF65-F5344CB8AC3E}">
        <p14:creationId xmlns:p14="http://schemas.microsoft.com/office/powerpoint/2010/main" val="1875561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700C8A-3B73-989E-F1A8-F4C1D86E1F82}"/>
              </a:ext>
            </a:extLst>
          </p:cNvPr>
          <p:cNvSpPr>
            <a:spLocks noGrp="1"/>
          </p:cNvSpPr>
          <p:nvPr>
            <p:ph idx="1"/>
          </p:nvPr>
        </p:nvSpPr>
        <p:spPr>
          <a:xfrm>
            <a:off x="1295400" y="422672"/>
            <a:ext cx="9601200" cy="6012656"/>
          </a:xfrm>
        </p:spPr>
        <p:txBody>
          <a:bodyPr/>
          <a:lstStyle/>
          <a:p>
            <a:r>
              <a:rPr lang="bn-IN"/>
              <a:t>Use Class Diagram -</a:t>
            </a:r>
            <a:endParaRPr lang="en-US"/>
          </a:p>
        </p:txBody>
      </p:sp>
      <p:pic>
        <p:nvPicPr>
          <p:cNvPr id="4" name="Picture 3">
            <a:extLst>
              <a:ext uri="{FF2B5EF4-FFF2-40B4-BE49-F238E27FC236}">
                <a16:creationId xmlns:a16="http://schemas.microsoft.com/office/drawing/2014/main" id="{C4E5E765-70B0-7004-B7C0-A5F223A87BE0}"/>
              </a:ext>
            </a:extLst>
          </p:cNvPr>
          <p:cNvPicPr>
            <a:picLocks noChangeAspect="1"/>
          </p:cNvPicPr>
          <p:nvPr/>
        </p:nvPicPr>
        <p:blipFill>
          <a:blip r:embed="rId2"/>
          <a:stretch>
            <a:fillRect/>
          </a:stretch>
        </p:blipFill>
        <p:spPr>
          <a:xfrm>
            <a:off x="1770063" y="922072"/>
            <a:ext cx="8128000" cy="5418667"/>
          </a:xfrm>
          <a:prstGeom prst="rect">
            <a:avLst/>
          </a:prstGeom>
        </p:spPr>
      </p:pic>
    </p:spTree>
    <p:extLst>
      <p:ext uri="{BB962C8B-B14F-4D97-AF65-F5344CB8AC3E}">
        <p14:creationId xmlns:p14="http://schemas.microsoft.com/office/powerpoint/2010/main" val="3967791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E56D1-B530-BA76-07DC-1436BB9BE9DB}"/>
              </a:ext>
            </a:extLst>
          </p:cNvPr>
          <p:cNvSpPr>
            <a:spLocks noGrp="1"/>
          </p:cNvSpPr>
          <p:nvPr>
            <p:ph type="title"/>
          </p:nvPr>
        </p:nvSpPr>
        <p:spPr/>
        <p:txBody>
          <a:bodyPr>
            <a:normAutofit/>
          </a:bodyPr>
          <a:lstStyle/>
          <a:p>
            <a:r>
              <a:rPr lang="bn-IN" sz="3600" b="1"/>
              <a:t>Data Safety </a:t>
            </a:r>
            <a:endParaRPr lang="en-US" sz="3600" b="1"/>
          </a:p>
        </p:txBody>
      </p:sp>
      <p:sp>
        <p:nvSpPr>
          <p:cNvPr id="5" name="Content Placeholder 4">
            <a:extLst>
              <a:ext uri="{FF2B5EF4-FFF2-40B4-BE49-F238E27FC236}">
                <a16:creationId xmlns:a16="http://schemas.microsoft.com/office/drawing/2014/main" id="{5C3B35AA-920C-AC36-61A2-912219EC893D}"/>
              </a:ext>
            </a:extLst>
          </p:cNvPr>
          <p:cNvSpPr>
            <a:spLocks noGrp="1"/>
          </p:cNvSpPr>
          <p:nvPr>
            <p:ph idx="1"/>
          </p:nvPr>
        </p:nvSpPr>
        <p:spPr>
          <a:xfrm>
            <a:off x="1371600" y="1547813"/>
            <a:ext cx="9601200" cy="4319587"/>
          </a:xfrm>
        </p:spPr>
        <p:txBody>
          <a:bodyPr>
            <a:normAutofit/>
          </a:bodyPr>
          <a:lstStyle/>
          <a:p>
            <a:r>
              <a:rPr lang="bn-IN"/>
              <a:t>Encrypted before storage in a centralized secure database. Role-based access control ensures that only authorized staff and administrators can access or modify data. Digital fine payments are securely processed, and regular cloud backups prevent data loss. This ensures passenger privacy and system reliability.</a:t>
            </a:r>
          </a:p>
          <a:p>
            <a:pPr marL="0" indent="0">
              <a:buNone/>
            </a:pPr>
            <a:r>
              <a:rPr lang="bn-IN"/>
              <a:t> </a:t>
            </a:r>
          </a:p>
          <a:p>
            <a:pPr marL="0" indent="0">
              <a:buNone/>
            </a:pPr>
            <a:r>
              <a:rPr lang="bn-IN" u="sng"/>
              <a:t>Key Security Lines:-</a:t>
            </a:r>
            <a:endParaRPr lang="bn-IN"/>
          </a:p>
          <a:p>
            <a:r>
              <a:rPr lang="bn-IN"/>
              <a:t>Encrypted QR code data
Secure centralized server
Role-based authentication
Digital payment security
Cloud backup system</a:t>
            </a:r>
            <a:endParaRPr lang="en-US"/>
          </a:p>
        </p:txBody>
      </p:sp>
    </p:spTree>
    <p:extLst>
      <p:ext uri="{BB962C8B-B14F-4D97-AF65-F5344CB8AC3E}">
        <p14:creationId xmlns:p14="http://schemas.microsoft.com/office/powerpoint/2010/main" val="3856453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94EEA-F22C-355E-6B43-69DCA65CCC3B}"/>
              </a:ext>
            </a:extLst>
          </p:cNvPr>
          <p:cNvSpPr>
            <a:spLocks noGrp="1"/>
          </p:cNvSpPr>
          <p:nvPr>
            <p:ph type="title"/>
          </p:nvPr>
        </p:nvSpPr>
        <p:spPr>
          <a:xfrm>
            <a:off x="1371600" y="685800"/>
            <a:ext cx="9601200" cy="981075"/>
          </a:xfrm>
        </p:spPr>
        <p:txBody>
          <a:bodyPr>
            <a:normAutofit/>
          </a:bodyPr>
          <a:lstStyle/>
          <a:p>
            <a:r>
              <a:rPr lang="bn-IN" sz="3600" b="1"/>
              <a:t>Innovation Aspect </a:t>
            </a:r>
            <a:endParaRPr lang="en-US" sz="3600" b="1"/>
          </a:p>
        </p:txBody>
      </p:sp>
      <p:sp>
        <p:nvSpPr>
          <p:cNvPr id="3" name="Content Placeholder 2">
            <a:extLst>
              <a:ext uri="{FF2B5EF4-FFF2-40B4-BE49-F238E27FC236}">
                <a16:creationId xmlns:a16="http://schemas.microsoft.com/office/drawing/2014/main" id="{72CC5927-00D5-C96E-1A64-595920C4E757}"/>
              </a:ext>
            </a:extLst>
          </p:cNvPr>
          <p:cNvSpPr>
            <a:spLocks noGrp="1"/>
          </p:cNvSpPr>
          <p:nvPr>
            <p:ph idx="1"/>
          </p:nvPr>
        </p:nvSpPr>
        <p:spPr>
          <a:xfrm>
            <a:off x="1371600" y="1309688"/>
            <a:ext cx="9601200" cy="4557712"/>
          </a:xfrm>
        </p:spPr>
        <p:txBody>
          <a:bodyPr>
            <a:normAutofit lnSpcReduction="10000"/>
          </a:bodyPr>
          <a:lstStyle/>
          <a:p>
            <a:pPr marL="0" indent="0">
              <a:buNone/>
            </a:pPr>
            <a:r>
              <a:rPr lang="bn-IN"/>
              <a:t>The Smart Seat &amp; Luggage Management System introduces a structured seat-to-luggage mapping mechanism, which is not present in current railway systems. It integrates QR-based verification, digital fine generation, and optional premium rack access into one unified platform. The system not only reduces passenger conflicts but also creates a new revenue model for railway.
</a:t>
            </a:r>
          </a:p>
          <a:p>
            <a:r>
              <a:rPr lang="bn-IN"/>
              <a:t>Seat mapped to fixed luggage slot
QR-based digital verification
Automated fine system
Pre-book extra luggage option
Premium paid rack for additional revenue
Scalable and future-ready design</a:t>
            </a:r>
            <a:endParaRPr lang="en-US"/>
          </a:p>
        </p:txBody>
      </p:sp>
    </p:spTree>
    <p:extLst>
      <p:ext uri="{BB962C8B-B14F-4D97-AF65-F5344CB8AC3E}">
        <p14:creationId xmlns:p14="http://schemas.microsoft.com/office/powerpoint/2010/main" val="3143282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3612F-5EE5-CC9A-03A8-02344474F941}"/>
              </a:ext>
            </a:extLst>
          </p:cNvPr>
          <p:cNvSpPr>
            <a:spLocks noGrp="1"/>
          </p:cNvSpPr>
          <p:nvPr>
            <p:ph type="title"/>
          </p:nvPr>
        </p:nvSpPr>
        <p:spPr>
          <a:xfrm>
            <a:off x="1371600" y="685800"/>
            <a:ext cx="9601200" cy="862013"/>
          </a:xfrm>
        </p:spPr>
        <p:txBody>
          <a:bodyPr>
            <a:normAutofit/>
          </a:bodyPr>
          <a:lstStyle/>
          <a:p>
            <a:r>
              <a:rPr lang="bn-IN" sz="3600" b="1"/>
              <a:t>Budget Control</a:t>
            </a:r>
            <a:endParaRPr lang="en-US" sz="3600" b="1"/>
          </a:p>
        </p:txBody>
      </p:sp>
      <p:sp>
        <p:nvSpPr>
          <p:cNvPr id="3" name="Content Placeholder 2">
            <a:extLst>
              <a:ext uri="{FF2B5EF4-FFF2-40B4-BE49-F238E27FC236}">
                <a16:creationId xmlns:a16="http://schemas.microsoft.com/office/drawing/2014/main" id="{C1BD6027-3C48-6C7A-27A3-1FEBAB08D34E}"/>
              </a:ext>
            </a:extLst>
          </p:cNvPr>
          <p:cNvSpPr>
            <a:spLocks noGrp="1"/>
          </p:cNvSpPr>
          <p:nvPr>
            <p:ph idx="1"/>
          </p:nvPr>
        </p:nvSpPr>
        <p:spPr>
          <a:xfrm>
            <a:off x="1371600" y="1452563"/>
            <a:ext cx="9601200" cy="4414837"/>
          </a:xfrm>
        </p:spPr>
        <p:txBody>
          <a:bodyPr/>
          <a:lstStyle/>
          <a:p>
            <a:pPr marL="0" indent="0">
              <a:buNone/>
            </a:pPr>
            <a:r>
              <a:rPr lang="bn-IN"/>
              <a:t>The system is designed to minimize implementation cost by utilizing the existing railway digital booking infrastructure. Most components are software-based, reducing hardware dependency. Premium racks and smart locks can be introduced gradually through phased deployment, ensuring controlled investment and steady revenue recovery.</a:t>
            </a:r>
          </a:p>
          <a:p>
            <a:pPr marL="0" indent="0">
              <a:buNone/>
            </a:pPr>
            <a:endParaRPr lang="bn-IN"/>
          </a:p>
          <a:p>
            <a:pPr marL="0" indent="0">
              <a:buNone/>
            </a:pPr>
            <a:r>
              <a:rPr lang="bn-IN" u="sng"/>
              <a:t>Budget Strategy:</a:t>
            </a:r>
          </a:p>
          <a:p>
            <a:r>
              <a:rPr lang="bn-IN"/>
              <a:t>Uses existing ticket booking system
Software-focused implementation
Minimal hardware cost
Phased deployment model
Revenue through extra luggage &amp; fines</a:t>
            </a:r>
          </a:p>
          <a:p>
            <a:pPr marL="0" indent="0">
              <a:buNone/>
            </a:pPr>
            <a:endParaRPr lang="en-US"/>
          </a:p>
        </p:txBody>
      </p:sp>
    </p:spTree>
    <p:extLst>
      <p:ext uri="{BB962C8B-B14F-4D97-AF65-F5344CB8AC3E}">
        <p14:creationId xmlns:p14="http://schemas.microsoft.com/office/powerpoint/2010/main" val="4291857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298A2-D128-EBB9-3B9D-BE2935482FAA}"/>
              </a:ext>
            </a:extLst>
          </p:cNvPr>
          <p:cNvSpPr>
            <a:spLocks noGrp="1"/>
          </p:cNvSpPr>
          <p:nvPr>
            <p:ph type="ctrTitle"/>
          </p:nvPr>
        </p:nvSpPr>
        <p:spPr>
          <a:xfrm>
            <a:off x="1915385" y="1797844"/>
            <a:ext cx="8361229" cy="2881312"/>
          </a:xfrm>
        </p:spPr>
        <p:txBody>
          <a:bodyPr/>
          <a:lstStyle/>
          <a:p>
            <a:r>
              <a:rPr lang="bn-IN"/>
              <a:t>THANK YOU</a:t>
            </a:r>
            <a:br>
              <a:rPr lang="bn-IN"/>
            </a:br>
            <a:endParaRPr lang="en-US"/>
          </a:p>
        </p:txBody>
      </p:sp>
    </p:spTree>
    <p:extLst>
      <p:ext uri="{BB962C8B-B14F-4D97-AF65-F5344CB8AC3E}">
        <p14:creationId xmlns:p14="http://schemas.microsoft.com/office/powerpoint/2010/main" val="3711231169"/>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025" id="{F9915BBD-9749-466F-995C-8C8D6A938EC0}" vid="{CF1D1A65-FC75-42D2-B7EF-D2991382DC6F}"/>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Crop</vt:lpstr>
      <vt:lpstr>Smart Seat &amp; Luggage Management System</vt:lpstr>
      <vt:lpstr>Problem Statement -</vt:lpstr>
      <vt:lpstr>As-Is vs To-Be Process Map</vt:lpstr>
      <vt:lpstr>PowerPoint Presentation</vt:lpstr>
      <vt:lpstr>Flowchart</vt:lpstr>
      <vt:lpstr>UML Diagrams</vt:lpstr>
      <vt:lpstr>PowerPoint Presentation</vt:lpstr>
      <vt:lpstr>Data Safety </vt:lpstr>
      <vt:lpstr>Innovation Aspect </vt:lpstr>
      <vt:lpstr>Budget Control</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Seat &amp; Luggage Management System</dc:title>
  <dc:creator>Satarupa Bhowmik</dc:creator>
  <cp:lastModifiedBy>Satarupa Bhowmik</cp:lastModifiedBy>
  <cp:revision>3</cp:revision>
  <dcterms:created xsi:type="dcterms:W3CDTF">2026-02-16T10:53:47Z</dcterms:created>
  <dcterms:modified xsi:type="dcterms:W3CDTF">2026-02-16T12:44:17Z</dcterms:modified>
</cp:coreProperties>
</file>